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96484"/>
            <a:ext cx="10363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802717"/>
            <a:ext cx="9144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78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79653"/>
            <a:ext cx="105156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119286"/>
            <a:ext cx="105156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30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0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86836"/>
            <a:ext cx="105156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41551"/>
            <a:ext cx="51577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340100"/>
            <a:ext cx="51577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41551"/>
            <a:ext cx="5183188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340100"/>
            <a:ext cx="518318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767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4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316569"/>
            <a:ext cx="61722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165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316569"/>
            <a:ext cx="61722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67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68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86834"/>
            <a:ext cx="26289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86834"/>
            <a:ext cx="77343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86836"/>
            <a:ext cx="105156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434167"/>
            <a:ext cx="105156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E944E-439C-4400-9867-B448A42A17A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475136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29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B9652838-4A8D-130F-3663-F14AB8C68262}"/>
              </a:ext>
            </a:extLst>
          </p:cNvPr>
          <p:cNvGrpSpPr/>
          <p:nvPr/>
        </p:nvGrpSpPr>
        <p:grpSpPr>
          <a:xfrm>
            <a:off x="469907" y="3454401"/>
            <a:ext cx="11351879" cy="3202606"/>
            <a:chOff x="469905" y="2311400"/>
            <a:chExt cx="11351879" cy="32026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/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A665099-E36D-F0CB-2F5E-F2F2E1DC4197}"/>
                </a:ext>
              </a:extLst>
            </p:cNvPr>
            <p:cNvSpPr/>
            <p:nvPr/>
          </p:nvSpPr>
          <p:spPr>
            <a:xfrm>
              <a:off x="1005790" y="291894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35FE9A-C0A1-51AA-FD9F-B5C41C3EC96A}"/>
                </a:ext>
              </a:extLst>
            </p:cNvPr>
            <p:cNvGrpSpPr/>
            <p:nvPr/>
          </p:nvGrpSpPr>
          <p:grpSpPr>
            <a:xfrm>
              <a:off x="2139495" y="2929048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1A8E56B-9FD6-AF83-A8C8-038157C1DB6F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2ED24B6-B8ED-2C04-AAD7-D1F07904B93E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3F55597-31DE-A6A4-BE5D-35B72C36E10E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EDABC5-4D46-B0D3-AC85-B181C9FC3127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503DED-5DEE-2FB3-F9D1-8F98C2DFB885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F5048C-0D76-7145-962F-59F5BAC23019}"/>
                </a:ext>
              </a:extLst>
            </p:cNvPr>
            <p:cNvGrpSpPr/>
            <p:nvPr/>
          </p:nvGrpSpPr>
          <p:grpSpPr>
            <a:xfrm>
              <a:off x="4568278" y="2934550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1E2E0D-0233-DCBC-D556-B7FF7D150EF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A304B03-A658-C015-BE3E-9692F6FAB29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35C6900-A3C2-AE6B-D675-5F3DE383650B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6B111AE-65BA-0D5C-8DD0-46BB876E5A2F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67B1DB1-80C6-239B-D3E3-C6371D25C46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F3539C8-A0CD-2C26-CF1A-55AA1A9C675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6544042-76D3-DB2F-E143-618E581199F7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7147131-433B-D58E-083E-3DFA57A00773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17C9B29-EE48-CDFC-0E8F-A34FB5366063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05C1831-9DE7-6FA0-F0BB-CE6E2A026C50}"/>
                </a:ext>
              </a:extLst>
            </p:cNvPr>
            <p:cNvGrpSpPr/>
            <p:nvPr/>
          </p:nvGrpSpPr>
          <p:grpSpPr>
            <a:xfrm>
              <a:off x="7625863" y="2934550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8FC28F-8476-AA9C-9A20-8210AF7E4F3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769C78-B04A-9CBA-3619-7D4D3815CDD0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AA36855-F231-4933-F6DF-945F6292100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F911975-FE57-6E3C-ED7C-A87FFDBB5FE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549AC232-3B3D-BA0A-C104-E2B65114683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06E82B1-6521-194F-90AB-F40FE1F9BDD9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2AEC07-2C9F-D0C9-02FD-A76DFA7A6B43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A6A1145-3508-9B88-480C-B50001AA3CDD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4FF349B-BED2-B67F-F175-1956D1B4B613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3C6CDB6-7044-78DA-E584-912691CDF7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6F503CA8-B48C-6694-908F-A98314BE2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0A1F1C1-1041-A4D9-A907-62A387FB3A93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8A62B2B-8C6B-836F-E3E1-22B3756DA4C4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64D0D98-DE1F-3283-9069-ADF66169A1C1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/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/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/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/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/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F1C397-5156-01F8-75B0-669AC694C54E}"/>
                </a:ext>
              </a:extLst>
            </p:cNvPr>
            <p:cNvSpPr/>
            <p:nvPr/>
          </p:nvSpPr>
          <p:spPr>
            <a:xfrm>
              <a:off x="469905" y="2311400"/>
              <a:ext cx="11302920" cy="32004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3E408BB-7DB6-F8D9-BB50-7BDFD14A6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4555" y="2313606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0408771-B6F2-7B2B-994E-1C9E12EF3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693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1A63972-8165-743D-CC4F-DF9DF4FB32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35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/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/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/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/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/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/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/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/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/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/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/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9784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AEACAC-72DD-4281-D52B-88B89AC1F51E}"/>
              </a:ext>
            </a:extLst>
          </p:cNvPr>
          <p:cNvSpPr/>
          <p:nvPr/>
        </p:nvSpPr>
        <p:spPr>
          <a:xfrm>
            <a:off x="3315661" y="976385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Yule model</a:t>
            </a:r>
          </a:p>
          <a:p>
            <a:pPr algn="ctr"/>
            <a:r>
              <a:rPr lang="en-US" sz="1600" dirty="0"/>
              <a:t>(Yule 1925)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7CA75-BF1A-666B-E0AD-E2FBEA8829F1}"/>
              </a:ext>
            </a:extLst>
          </p:cNvPr>
          <p:cNvSpPr/>
          <p:nvPr/>
        </p:nvSpPr>
        <p:spPr>
          <a:xfrm>
            <a:off x="3315661" y="3678576"/>
            <a:ext cx="1828800" cy="1828800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Uniform model</a:t>
            </a:r>
          </a:p>
          <a:p>
            <a:pPr algn="ctr"/>
            <a:r>
              <a:rPr lang="en-US" sz="1600" i="1" dirty="0"/>
              <a:t>(Rosen 1978)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E6AAB5-FA71-6885-B6DA-C02EC78A067A}"/>
              </a:ext>
            </a:extLst>
          </p:cNvPr>
          <p:cNvSpPr/>
          <p:nvPr/>
        </p:nvSpPr>
        <p:spPr>
          <a:xfrm>
            <a:off x="3315661" y="6401150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Caterpillar tree</a:t>
            </a:r>
          </a:p>
          <a:p>
            <a:pPr algn="ctr"/>
            <a:r>
              <a:rPr lang="en-US" sz="1600" i="1" dirty="0"/>
              <a:t>(Harary &amp; Schwenk 1973)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/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ln w="571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Aldous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600" b="1" dirty="0"/>
                  <a:t>-splitting</a:t>
                </a:r>
              </a:p>
              <a:p>
                <a:pPr algn="ctr"/>
                <a:r>
                  <a:rPr lang="en-US" sz="1600" i="1" dirty="0"/>
                  <a:t>(Aldous 1996)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∈(−2,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/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 </a:t>
                </a:r>
              </a:p>
              <a:p>
                <a:pPr algn="ctr"/>
                <a:r>
                  <a:rPr lang="en-US" sz="1600" i="1" dirty="0"/>
                  <a:t>(Blum &amp; Francois 2005)</a:t>
                </a:r>
              </a:p>
              <a:p>
                <a:pPr algn="ctr"/>
                <a:r>
                  <a:rPr lang="en-US" sz="1600" b="0" dirty="0"/>
                  <a:t>Split distribution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blipFill>
                <a:blip r:embed="rId3"/>
                <a:stretch>
                  <a:fillRect l="-324" r="-2265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/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speciation, constant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endParaRPr lang="en-US" sz="1600" b="1" dirty="0"/>
              </a:p>
              <a:p>
                <a:pPr algn="ctr"/>
                <a:r>
                  <a:rPr lang="en-US" sz="1600" dirty="0"/>
                  <a:t>(Blum &amp; Francois 2005)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∈[0, 1]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/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Blum &amp; Francois Beta-splitting</a:t>
                </a:r>
              </a:p>
              <a:p>
                <a:pPr algn="ctr"/>
                <a:r>
                  <a:rPr lang="en-US" sz="1600" dirty="0"/>
                  <a:t>(Blum &amp; Francois 2006)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/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Sainudiin &amp; Veber Beta-splitting</a:t>
                </a:r>
              </a:p>
              <a:p>
                <a:pPr algn="ctr"/>
                <a:r>
                  <a:rPr lang="en-US" sz="1600" dirty="0"/>
                  <a:t>(</a:t>
                </a:r>
                <a:r>
                  <a:rPr lang="en-US" sz="1600" dirty="0" err="1"/>
                  <a:t>Sainudiin</a:t>
                </a:r>
                <a:r>
                  <a:rPr lang="en-US" sz="1600" dirty="0"/>
                  <a:t> &amp; Veber 2016)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blipFill>
                <a:blip r:embed="rId6"/>
                <a:stretch>
                  <a:fillRect r="-1942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DBC77-6A8F-0315-F4C2-82768A1F38E5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8410720" y="4594604"/>
            <a:ext cx="1725918" cy="7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308942-25E3-8465-CB03-81C6C435828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5144461" y="1888222"/>
            <a:ext cx="1444397" cy="256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FC8F36-67CF-2EFC-8D0D-9F52254D839E}"/>
              </a:ext>
            </a:extLst>
          </p:cNvPr>
          <p:cNvCxnSpPr>
            <a:cxnSpLocks/>
            <a:stCxn id="8" idx="1"/>
            <a:endCxn id="5" idx="3"/>
          </p:cNvCxnSpPr>
          <p:nvPr/>
        </p:nvCxnSpPr>
        <p:spPr>
          <a:xfrm flipH="1">
            <a:off x="5144461" y="7315550"/>
            <a:ext cx="14443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8710-2236-A445-7915-F032E636AE7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1938847" y="4592976"/>
            <a:ext cx="13768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52C06-FBA2-F235-3C2F-B2A559C63B65}"/>
              </a:ext>
            </a:extLst>
          </p:cNvPr>
          <p:cNvCxnSpPr>
            <a:cxnSpLocks/>
            <a:stCxn id="6" idx="0"/>
            <a:endCxn id="3" idx="1"/>
          </p:cNvCxnSpPr>
          <p:nvPr/>
        </p:nvCxnSpPr>
        <p:spPr>
          <a:xfrm flipV="1">
            <a:off x="1024447" y="1890785"/>
            <a:ext cx="2291214" cy="17877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82DC50-A64D-4D5B-718F-296D96E7DB0F}"/>
              </a:ext>
            </a:extLst>
          </p:cNvPr>
          <p:cNvCxnSpPr>
            <a:cxnSpLocks/>
            <a:stCxn id="6" idx="2"/>
            <a:endCxn id="5" idx="1"/>
          </p:cNvCxnSpPr>
          <p:nvPr/>
        </p:nvCxnSpPr>
        <p:spPr>
          <a:xfrm>
            <a:off x="1024447" y="5507376"/>
            <a:ext cx="2291214" cy="1808174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81773D-AF12-4546-087D-5663D338610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8417658" y="5509004"/>
            <a:ext cx="2633380" cy="18065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49052D-D29F-8660-4076-160B05F83EEE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flipH="1" flipV="1">
            <a:off x="8415671" y="1890785"/>
            <a:ext cx="2635367" cy="17894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6C284F-C09C-4650-2DA4-50660481F93F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7496320" y="2805185"/>
            <a:ext cx="4951" cy="8827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D84C08-8F23-6B88-55B0-45CB6ECBEA8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5151399" y="5516693"/>
            <a:ext cx="2344921" cy="139718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DE63C-56F0-B16C-8C12-8F572C3500AA}"/>
              </a:ext>
            </a:extLst>
          </p:cNvPr>
          <p:cNvCxnSpPr>
            <a:cxnSpLocks/>
          </p:cNvCxnSpPr>
          <p:nvPr/>
        </p:nvCxnSpPr>
        <p:spPr>
          <a:xfrm flipH="1">
            <a:off x="5107587" y="2775242"/>
            <a:ext cx="1474333" cy="362590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4A65BB-3C3D-0F51-AE59-F1A8FD508008}"/>
              </a:ext>
            </a:extLst>
          </p:cNvPr>
          <p:cNvCxnSpPr>
            <a:cxnSpLocks/>
            <a:stCxn id="9" idx="1"/>
            <a:endCxn id="3" idx="2"/>
          </p:cNvCxnSpPr>
          <p:nvPr/>
        </p:nvCxnSpPr>
        <p:spPr>
          <a:xfrm flipH="1" flipV="1">
            <a:off x="4230061" y="2805185"/>
            <a:ext cx="2351859" cy="17971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/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/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/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/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/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/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blipFill>
                <a:blip r:embed="rId1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/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blipFill>
                <a:blip r:embed="rId1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/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/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/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/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/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337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1A1B-B8F9-12A2-2FF6-676748DD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4677813-F6DE-0F34-5A46-5BBBB54E9ECF}"/>
              </a:ext>
            </a:extLst>
          </p:cNvPr>
          <p:cNvGrpSpPr/>
          <p:nvPr/>
        </p:nvGrpSpPr>
        <p:grpSpPr>
          <a:xfrm>
            <a:off x="118859" y="155218"/>
            <a:ext cx="10579759" cy="8627116"/>
            <a:chOff x="118859" y="155218"/>
            <a:chExt cx="10579759" cy="86271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90E92CD-87C2-A894-4187-9ABC93FF6C97}"/>
                </a:ext>
              </a:extLst>
            </p:cNvPr>
            <p:cNvSpPr/>
            <p:nvPr/>
          </p:nvSpPr>
          <p:spPr>
            <a:xfrm>
              <a:off x="118859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Yule model</a:t>
              </a:r>
            </a:p>
            <a:p>
              <a:pPr algn="ctr"/>
              <a:r>
                <a:rPr lang="en-US" sz="1600" i="1" dirty="0"/>
                <a:t>(Yule 1925) 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55C221-2CE5-0420-3DAF-A0B66F1A2907}"/>
                </a:ext>
              </a:extLst>
            </p:cNvPr>
            <p:cNvSpPr/>
            <p:nvPr/>
          </p:nvSpPr>
          <p:spPr>
            <a:xfrm>
              <a:off x="2800524" y="6953534"/>
              <a:ext cx="1828800" cy="1828800"/>
            </a:xfrm>
            <a:prstGeom prst="rect">
              <a:avLst/>
            </a:prstGeom>
            <a:ln w="5715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Uniform model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F2E5B9-7CAA-6D1A-5662-42FAE55F75EE}"/>
                </a:ext>
              </a:extLst>
            </p:cNvPr>
            <p:cNvSpPr/>
            <p:nvPr/>
          </p:nvSpPr>
          <p:spPr>
            <a:xfrm>
              <a:off x="5420655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Caterpillar tree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/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ln w="571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Aldous Beta-splitting</a:t>
                  </a:r>
                </a:p>
                <a:p>
                  <a:pPr algn="ctr"/>
                  <a:r>
                    <a:rPr lang="en-US" sz="1600" i="1" dirty="0"/>
                    <a:t>(Aldous 1996)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∈(−2,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5715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/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General biased speciation 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:r>
                    <a:rPr lang="en-US" sz="1600" b="0" dirty="0"/>
                    <a:t>Split </a:t>
                  </a:r>
                  <a:r>
                    <a:rPr lang="en-US" sz="1600" dirty="0"/>
                    <a:t>fraction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∈[0,1]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/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Biased speciation, constant </a:t>
                  </a:r>
                  <a14:m>
                    <m:oMath xmlns:m="http://schemas.openxmlformats.org/officeDocument/2006/math"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𝝀</m:t>
                      </m:r>
                    </m:oMath>
                  </a14:m>
                  <a:endParaRPr lang="en-US" sz="1600" b="1" dirty="0"/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∈[0, 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/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Blum-François Beta-splitting</a:t>
                  </a:r>
                </a:p>
                <a:p>
                  <a:pPr algn="ctr"/>
                  <a:r>
                    <a:rPr lang="en-US" sz="1600" i="1" dirty="0"/>
                    <a:t>(Blum &amp; Francois 2006)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/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 err="1"/>
                    <a:t>Sainudiin</a:t>
                  </a:r>
                  <a:r>
                    <a:rPr lang="en-US" sz="1600" b="1" dirty="0"/>
                    <a:t>-Véber Beta-splitting</a:t>
                  </a:r>
                </a:p>
                <a:p>
                  <a:pPr algn="ctr"/>
                  <a:r>
                    <a:rPr lang="en-US" sz="1600" i="1" dirty="0"/>
                    <a:t>(</a:t>
                  </a:r>
                  <a:r>
                    <a:rPr lang="en-US" sz="1600" i="1" dirty="0" err="1"/>
                    <a:t>Sainudiin</a:t>
                  </a:r>
                  <a:r>
                    <a:rPr lang="en-US" sz="1600" i="1" dirty="0"/>
                    <a:t> &amp; Véber 2016)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blipFill>
                  <a:blip r:embed="rId6"/>
                  <a:stretch>
                    <a:fillRect r="-1618"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803C774-1740-1D0D-F682-EFAFC4F1D3E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3714924" y="1984018"/>
              <a:ext cx="0" cy="70705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07AFC81-1141-F248-6DB0-5CCF66F88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2530" y="4515747"/>
              <a:ext cx="3897081" cy="24169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35DA867-D678-7A4D-5613-E78AA5E67FE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033259" y="4536550"/>
              <a:ext cx="4396352" cy="24034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18BE09-515F-9B7D-00D7-70141C4EB55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4629324" y="5905260"/>
              <a:ext cx="4240494" cy="104827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5FCA40F-9FA2-7EAE-2B9F-1273A7DA90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659" y="4994984"/>
              <a:ext cx="6922159" cy="195855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529CCA6-FE0A-E71B-E8C8-4B2A48ACE1F1}"/>
                </a:ext>
              </a:extLst>
            </p:cNvPr>
            <p:cNvCxnSpPr>
              <a:cxnSpLocks/>
              <a:stCxn id="6" idx="2"/>
              <a:endCxn id="5" idx="3"/>
            </p:cNvCxnSpPr>
            <p:nvPr/>
          </p:nvCxnSpPr>
          <p:spPr>
            <a:xfrm flipH="1">
              <a:off x="7249455" y="6819660"/>
              <a:ext cx="2534763" cy="1048274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765FA1C-0729-04DA-FC9C-CE93679A65B4}"/>
                </a:ext>
              </a:extLst>
            </p:cNvPr>
            <p:cNvCxnSpPr>
              <a:cxnSpLocks/>
              <a:stCxn id="7" idx="1"/>
              <a:endCxn id="8" idx="0"/>
            </p:cNvCxnSpPr>
            <p:nvPr/>
          </p:nvCxnSpPr>
          <p:spPr>
            <a:xfrm flipH="1">
              <a:off x="1033259" y="1069618"/>
              <a:ext cx="1767265" cy="16381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3EEF556-D2E9-FD4D-C339-6B0F09C4540F}"/>
                </a:ext>
              </a:extLst>
            </p:cNvPr>
            <p:cNvCxnSpPr>
              <a:cxnSpLocks/>
              <a:stCxn id="7" idx="3"/>
              <a:endCxn id="10" idx="0"/>
            </p:cNvCxnSpPr>
            <p:nvPr/>
          </p:nvCxnSpPr>
          <p:spPr>
            <a:xfrm>
              <a:off x="4629324" y="1069618"/>
              <a:ext cx="1705731" cy="161732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4060372-B4B8-3FC2-916F-C752F41DC378}"/>
                </a:ext>
              </a:extLst>
            </p:cNvPr>
            <p:cNvCxnSpPr>
              <a:cxnSpLocks/>
              <a:stCxn id="10" idx="1"/>
              <a:endCxn id="9" idx="3"/>
            </p:cNvCxnSpPr>
            <p:nvPr/>
          </p:nvCxnSpPr>
          <p:spPr>
            <a:xfrm flipH="1">
              <a:off x="4629324" y="3601347"/>
              <a:ext cx="791331" cy="412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2451E4-B123-9766-1B97-23D1FF53EE14}"/>
                </a:ext>
              </a:extLst>
            </p:cNvPr>
            <p:cNvCxnSpPr>
              <a:cxnSpLocks/>
            </p:cNvCxnSpPr>
            <p:nvPr/>
          </p:nvCxnSpPr>
          <p:spPr>
            <a:xfrm>
              <a:off x="3931975" y="4511623"/>
              <a:ext cx="2014119" cy="2441911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1C9CCE1-1E63-F9CF-879A-0D6976C27418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>
              <a:off x="6335055" y="4515747"/>
              <a:ext cx="0" cy="2437787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D23FB1-2572-E559-70F2-601F4BC74871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 flipH="1">
              <a:off x="1033259" y="4515747"/>
              <a:ext cx="1776221" cy="243778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/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/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/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/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/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/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blipFill>
                  <a:blip r:embed="rId12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/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/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/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/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/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/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4697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6206</TotalTime>
  <Words>378</Words>
  <Application>Microsoft Office PowerPoint</Application>
  <PresentationFormat>Custom</PresentationFormat>
  <Paragraphs>82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7</cp:revision>
  <dcterms:created xsi:type="dcterms:W3CDTF">2025-09-18T19:15:46Z</dcterms:created>
  <dcterms:modified xsi:type="dcterms:W3CDTF">2026-01-06T01:26:57Z</dcterms:modified>
</cp:coreProperties>
</file>